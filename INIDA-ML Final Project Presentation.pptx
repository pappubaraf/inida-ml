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</ns0:sldIdLst>
  <ns0:sldSz cx="12192000" cy="6858000" type="screen4x3"/>
  <ns0:notesSz cx="6858000" cy="9144000"/>
  <ns0:embeddedFontLst>
    <ns0:embeddedFont>
      <ns0:font typeface="Plus Jakarta Sans"/>
      <ns0:bold ns1:id="rIdFont18"/>
      <ns0:regular ns1:id="rIdFont19"/>
    </ns0:embeddedFont>
    <ns0:embeddedFont>
      <ns0:font typeface="JetBrains Mono"/>
      <ns0:bold ns1:id="rIdFont20"/>
      <ns0:regular ns1:id="rIdFont21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Font18" Type="http://schemas.openxmlformats.org/officeDocument/2006/relationships/font" Target="fonts/7c5bd6d9-fdb1-4bb2-8b61-82e6c5fb96ac.fntdata" /><ns0:Relationship Id="rIdFont19" Type="http://schemas.openxmlformats.org/officeDocument/2006/relationships/font" Target="fonts/e09dfdf9-8460-437c-99d0-a913ec742c99.fntdata" /><ns0:Relationship Id="rIdFont20" Type="http://schemas.openxmlformats.org/officeDocument/2006/relationships/font" Target="fonts/818a8d53-04f6-40da-9a46-5defaac42e51.fntdata" /><ns0:Relationship Id="rIdFont21" Type="http://schemas.openxmlformats.org/officeDocument/2006/relationships/font" Target="fonts/3fe04fe8-18da-4a61-b3ea-9bddc0661f1e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62000" y="5638651"/>
            <a:ext cx="10668000" cy="609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5638651"/>
            <a:ext cx="10668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581025"/>
            <a:ext cx="3962400" cy="295275"/>
          </a:xfrm>
          <a:prstGeom prst="roundRect">
            <a:avLst>
              <a:gd name="adj" fmla="val 19354"/>
            </a:avLst>
          </a:prstGeom>
          <a:solidFill>
            <a:srgbClr val="162642"/>
          </a:solidFill>
          <a:ln w="9525">
            <a:solidFill>
              <a:srgbClr val="1D47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2055465"/>
            <a:ext cx="9601200" cy="1708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Plus Jakarta Sans"/>
              </a:rPr>
              <a:t>INIDA-ML: Intelligent Network Intrusion Detection &amp; Anomaly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916560"/>
            <a:ext cx="77152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94A3B8"/>
                </a:solidFill>
                <a:latin typeface="Plus Jakarta Sans"/>
              </a:rPr>
              <a:t>Machine Learning Powered Network Flow Telemetry Inspection, URL Threat Detection &amp; Automated Incident Response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9400" y="6048226"/>
            <a:ext cx="12763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8BDF8"/>
                </a:solidFill>
                <a:latin typeface="Plus Jakarta Sans"/>
              </a:rPr>
              <a:t>CSE (AI &amp; ML)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638175"/>
            <a:ext cx="38290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8BDF8"/>
                </a:solidFill>
                <a:latin typeface="JetBrains Mono"/>
              </a:rPr>
              <a:t>IBM SKILLSBUILD &amp; AICTE INTERNSHIP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0750" y="609600"/>
            <a:ext cx="16192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975" i="0" u="none">
                <a:solidFill>
                  <a:srgbClr val="94A3B8"/>
                </a:solidFill>
                <a:latin typeface="JetBrains Mono"/>
              </a:rPr>
              <a:t>ID: IBMUEML008058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5876776"/>
            <a:ext cx="431006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8FAFC"/>
                </a:solidFill>
                <a:latin typeface="Plus Jakarta Sans"/>
              </a:rPr>
              <a:t>Developer: Pappu Ramesh Baraf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6095851"/>
            <a:ext cx="43100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Finolex Academy of Management and Technology, Ratnagiri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5657850"/>
            <a:ext cx="10668000" cy="666750"/>
          </a:xfrm>
          <a:prstGeom prst="roundRect">
            <a:avLst>
              <a:gd name="adj" fmla="val 14285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2452687"/>
            <a:ext cx="3403550" cy="1924050"/>
          </a:xfrm>
          <a:prstGeom prst="roundRect">
            <a:avLst>
              <a:gd name="adj" fmla="val 594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94150" y="2452687"/>
            <a:ext cx="3403550" cy="1924050"/>
          </a:xfrm>
          <a:prstGeom prst="roundRect">
            <a:avLst>
              <a:gd name="adj" fmla="val 594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26300" y="2452687"/>
            <a:ext cx="3403550" cy="1924050"/>
          </a:xfrm>
          <a:prstGeom prst="roundRect">
            <a:avLst>
              <a:gd name="adj" fmla="val 594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5657850"/>
            <a:ext cx="38100" cy="6667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4367212"/>
            <a:ext cx="34035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2452687"/>
            <a:ext cx="3403550" cy="381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2000" y="2452687"/>
            <a:ext cx="9525" cy="1924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56025" y="2452687"/>
            <a:ext cx="9525" cy="1924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4150" y="4367212"/>
            <a:ext cx="34035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94150" y="2452687"/>
            <a:ext cx="340355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4150" y="2452687"/>
            <a:ext cx="9525" cy="1924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88175" y="2452687"/>
            <a:ext cx="9525" cy="1924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6300" y="4367212"/>
            <a:ext cx="34035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26300" y="2452687"/>
            <a:ext cx="3403550" cy="381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6300" y="2452687"/>
            <a:ext cx="9525" cy="1924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420326" y="2452687"/>
            <a:ext cx="9525" cy="1924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" y="2805112"/>
            <a:ext cx="333375" cy="2667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0375" y="2805112"/>
            <a:ext cx="266700" cy="2667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525" y="2805112"/>
            <a:ext cx="266700" cy="2667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62000" y="533400"/>
            <a:ext cx="10763250" cy="638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Plus Jakarta Sans"/>
              </a:rPr>
              <a:t>Context &amp; Challenge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790575"/>
            <a:ext cx="11430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The Network Intrusion Detection Challenge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700" y="5810250"/>
            <a:ext cx="102679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3A8A"/>
                </a:solidFill>
                <a:latin typeface="Plus Jakarta Sans"/>
              </a:rPr>
              <a:t>Project Solution:</a:t>
            </a:r>
            <a:r>
              <a:rPr b="0" sz="1125" i="0" u="none">
                <a:solidFill>
                  <a:srgbClr val="1E3A8A"/>
                </a:solidFill>
                <a:latin typeface="Plus Jakarta Sans"/>
              </a:rPr>
              <a:t> A unified Streamlit analytical workbench combining tabular Random Forest classification, URL threat detection, and live port auditing.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8225" y="3205162"/>
            <a:ext cx="374206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Massive Telemetry Volume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8225" y="3500437"/>
            <a:ext cx="29463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Enterprise flows contain millions of benign and malicious packets making manual auditing impossible.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70375" y="3205162"/>
            <a:ext cx="374206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High False Positive Rates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70375" y="3500437"/>
            <a:ext cx="29463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Traditional signature systems fail to generalize against modern polymorphic network attacks.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525" y="3205162"/>
            <a:ext cx="374206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Fragmented Tooling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525" y="3500437"/>
            <a:ext cx="29463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Alerts, models, historical logs, and threat intelligence are frequently scattered across disconnected tools.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86525" y="2643187"/>
            <a:ext cx="4943475" cy="942975"/>
          </a:xfrm>
          <a:prstGeom prst="roundRect">
            <a:avLst>
              <a:gd name="adj" fmla="val 1010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86525" y="3738562"/>
            <a:ext cx="4943475" cy="942975"/>
          </a:xfrm>
          <a:prstGeom prst="roundRect">
            <a:avLst>
              <a:gd name="adj" fmla="val 1010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166937"/>
            <a:ext cx="5419725" cy="29908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5" y="2405062"/>
            <a:ext cx="4943475" cy="2476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6550" y="2852737"/>
            <a:ext cx="13335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6550" y="3948112"/>
            <a:ext cx="152400" cy="152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457200"/>
            <a:ext cx="107632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Plus Jakarta Sans"/>
              </a:rPr>
              <a:t>System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95325"/>
            <a:ext cx="11430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Technical Architecture &amp; Dataset Benchmark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285750" y="6248400"/>
            <a:ext cx="127635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INIDA-ML | System Documentation &amp; Dataset Validation Module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86550" y="2824162"/>
            <a:ext cx="5505450" cy="200025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CIC-IDS2017 Dataset Benchmark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86550" y="3062287"/>
            <a:ext cx="463867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Gold-standard network flow dataset featuring 77 tabular flow parameters extracted via CICFlowMeter.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86550" y="3919537"/>
            <a:ext cx="5505450" cy="200025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Rigorous Dataset Audit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86550" y="4157662"/>
            <a:ext cx="463867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The Benign-Monday file contains 458,831 records (100% Benign). Transparently handled to prevent classifier collapse.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643187"/>
            <a:ext cx="4943475" cy="942975"/>
          </a:xfrm>
          <a:prstGeom prst="roundRect">
            <a:avLst>
              <a:gd name="adj" fmla="val 1010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3738562"/>
            <a:ext cx="4943475" cy="942975"/>
          </a:xfrm>
          <a:prstGeom prst="roundRect">
            <a:avLst>
              <a:gd name="adj" fmla="val 1010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0275" y="2166937"/>
            <a:ext cx="5419725" cy="29908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2405062"/>
            <a:ext cx="4943475" cy="2476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457200"/>
            <a:ext cx="107632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Plus Jakarta Sans"/>
              </a:rPr>
              <a:t>Machine Learning 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95325"/>
            <a:ext cx="11430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Random Forest Ensemble &amp; Preprocessing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285750" y="6248400"/>
            <a:ext cx="127635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INIDA-ML | Supervised Model Architecture &amp; Feature Scaling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2824162"/>
            <a:ext cx="596324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Random Forest Classifier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3062287"/>
            <a:ext cx="463867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100 estimators, max_depth=25, and Gini impurity optimization for robust non-linear classification.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3919537"/>
            <a:ext cx="596324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StandardScaler &amp; Balancing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025" y="4157662"/>
            <a:ext cx="463867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Normalizes continuous features and enforces 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class_weight='balanced_subsample'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86525" y="2643187"/>
            <a:ext cx="4943475" cy="942975"/>
          </a:xfrm>
          <a:prstGeom prst="roundRect">
            <a:avLst>
              <a:gd name="adj" fmla="val 1010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86525" y="3738562"/>
            <a:ext cx="4943475" cy="942975"/>
          </a:xfrm>
          <a:prstGeom prst="roundRect">
            <a:avLst>
              <a:gd name="adj" fmla="val 1010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166937"/>
            <a:ext cx="5419725" cy="29908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5" y="2405062"/>
            <a:ext cx="4943475" cy="2476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6550" y="2852737"/>
            <a:ext cx="15240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6550" y="3948112"/>
            <a:ext cx="133350" cy="152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457200"/>
            <a:ext cx="107632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Plus Jakarta Sans"/>
              </a:rPr>
              <a:t>Threat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95325"/>
            <a:ext cx="11430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Website &amp; URL Threat Scanner Module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285750" y="6248400"/>
            <a:ext cx="127635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INIDA-ML | Web Reputation &amp; Malicious Link Detector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86550" y="2824162"/>
            <a:ext cx="5505450" cy="200025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Phishing &amp; DGA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86550" y="3062287"/>
            <a:ext cx="463867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Inspects links in real time for credential harvesting traps, raw IP hosts, and high-risk domain extensions.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86550" y="3919537"/>
            <a:ext cx="5505450" cy="200025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Instant Verdict &amp; Export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86550" y="4157662"/>
            <a:ext cx="463867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Calculates precise risk scores and generates structured JSON reports or AI deep scans.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643187"/>
            <a:ext cx="4943475" cy="942975"/>
          </a:xfrm>
          <a:prstGeom prst="roundRect">
            <a:avLst>
              <a:gd name="adj" fmla="val 1010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3738562"/>
            <a:ext cx="4943475" cy="942975"/>
          </a:xfrm>
          <a:prstGeom prst="roundRect">
            <a:avLst>
              <a:gd name="adj" fmla="val 1010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0275" y="2166937"/>
            <a:ext cx="5419725" cy="29908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2405062"/>
            <a:ext cx="4943475" cy="2476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457200"/>
            <a:ext cx="107632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Plus Jakarta Sans"/>
              </a:rPr>
              <a:t>Network Auditing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95325"/>
            <a:ext cx="11430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Live Port Detection &amp; Service Prober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285750" y="6248400"/>
            <a:ext cx="127635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INIDA-ML | Network Reconnaissance &amp; Vulnerability Auditor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2824162"/>
            <a:ext cx="596324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17 Essential Attack Ports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3062287"/>
            <a:ext cx="463867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Audits endpoints (Telnet, SMB, RDP, FTP) to discover open TCP listeners and calculate handshake latencies.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3919537"/>
            <a:ext cx="596324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Automated Remediation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025" y="4157662"/>
            <a:ext cx="463867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Generates defensive firewall rules and vulnerability notes for exposed services.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86525" y="2643187"/>
            <a:ext cx="4943475" cy="942975"/>
          </a:xfrm>
          <a:prstGeom prst="roundRect">
            <a:avLst>
              <a:gd name="adj" fmla="val 1010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86525" y="3738562"/>
            <a:ext cx="4943475" cy="942975"/>
          </a:xfrm>
          <a:prstGeom prst="roundRect">
            <a:avLst>
              <a:gd name="adj" fmla="val 1010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166937"/>
            <a:ext cx="5419725" cy="29908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5" y="2405062"/>
            <a:ext cx="4943475" cy="2476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6550" y="2852737"/>
            <a:ext cx="19050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6550" y="3948112"/>
            <a:ext cx="133350" cy="152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457200"/>
            <a:ext cx="107632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Plus Jakarta Sans"/>
              </a:rPr>
              <a:t>Real-Time Simulation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95325"/>
            <a:ext cx="11430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Live Network Flow Monitor &amp; Ingestion Feed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285750" y="6248400"/>
            <a:ext cx="127635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INIDA-ML | Local Network Flow Simulator &amp; Alert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86550" y="2824162"/>
            <a:ext cx="5505450" cy="200025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Continuous Flow Simulation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86550" y="3062287"/>
            <a:ext cx="463867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Generates high-fidelity synthetic flow feeds to test velocity counters and heuristic detection without unauthorized packet capture.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86550" y="3919537"/>
            <a:ext cx="5505450" cy="200025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Heuristic Signature Hits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86550" y="4157662"/>
            <a:ext cx="463867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Tracks processed records and triggers instant visual/audible alerts for anomalous PortScan and DoS activity.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643187"/>
            <a:ext cx="4943475" cy="942975"/>
          </a:xfrm>
          <a:prstGeom prst="roundRect">
            <a:avLst>
              <a:gd name="adj" fmla="val 1010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3738562"/>
            <a:ext cx="4943475" cy="942975"/>
          </a:xfrm>
          <a:prstGeom prst="roundRect">
            <a:avLst>
              <a:gd name="adj" fmla="val 1010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0275" y="2166937"/>
            <a:ext cx="5419725" cy="29908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2405062"/>
            <a:ext cx="4943475" cy="2476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457200"/>
            <a:ext cx="107632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Plus Jakarta Sans"/>
              </a:rPr>
              <a:t>Simulation Sandbox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95325"/>
            <a:ext cx="11430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Security Lab: Harmless Localhost Test Vectors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285750" y="6248400"/>
            <a:ext cx="127635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INIDA-ML | Academic Verification &amp; Simulation Environment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2824162"/>
            <a:ext cx="596324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MITRE ATT&amp;CK Mapping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3062287"/>
            <a:ext cx="463867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Evaluates isolated attack flow profiles mapped directly to T1498.001 (Slowloris) and T1046 (PortScan).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3919537"/>
            <a:ext cx="596324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CICFlowMeter Parameter Testing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025" y="4157662"/>
            <a:ext cx="463867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Inspects packet distributions, inter-arrival times, and TCP control flags safely in sandbox mode.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86525" y="2643187"/>
            <a:ext cx="4943475" cy="942975"/>
          </a:xfrm>
          <a:prstGeom prst="roundRect">
            <a:avLst>
              <a:gd name="adj" fmla="val 1010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86525" y="3738562"/>
            <a:ext cx="4943475" cy="942975"/>
          </a:xfrm>
          <a:prstGeom prst="roundRect">
            <a:avLst>
              <a:gd name="adj" fmla="val 1010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166937"/>
            <a:ext cx="5419725" cy="29908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5" y="2405062"/>
            <a:ext cx="4943475" cy="2476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6550" y="2852737"/>
            <a:ext cx="15240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6550" y="3948112"/>
            <a:ext cx="152400" cy="152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457200"/>
            <a:ext cx="107632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Plus Jakarta Sans"/>
              </a:rPr>
              <a:t>Generative AI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95325"/>
            <a:ext cx="11430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AI Security Analyst &amp; Incident Advisory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285750" y="6248400"/>
            <a:ext cx="127635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INIDA-ML | Automated Incident Advisory &amp; Threat Correlation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86550" y="2824162"/>
            <a:ext cx="5505450" cy="200025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Dual-Engine LLM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86550" y="3062287"/>
            <a:ext cx="463867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Integrates Groq API and Gemini neural models to explain anomaly mechanics and deceptive subdomain structures.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86550" y="3919537"/>
            <a:ext cx="5505450" cy="200025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Supplementary Advisory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86550" y="4157662"/>
            <a:ext cx="463867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Provides expert security recommendations without replacing deterministic machine learning classifiers.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5829300"/>
            <a:ext cx="10668000" cy="495300"/>
          </a:xfrm>
          <a:prstGeom prst="roundRect">
            <a:avLst>
              <a:gd name="adj" fmla="val 1923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2652712"/>
            <a:ext cx="5219700" cy="1695450"/>
          </a:xfrm>
          <a:prstGeom prst="roundRect">
            <a:avLst>
              <a:gd name="adj" fmla="val 6741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2652712"/>
            <a:ext cx="5219700" cy="1695450"/>
          </a:xfrm>
          <a:prstGeom prst="roundRect">
            <a:avLst>
              <a:gd name="adj" fmla="val 6741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4338637"/>
            <a:ext cx="5219700" cy="9525"/>
          </a:xfrm>
          <a:prstGeom prst="rect">
            <a:avLst/>
          </a:prstGeom>
          <a:solidFill>
            <a:srgbClr val="BBF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2652712"/>
            <a:ext cx="5219700" cy="9525"/>
          </a:xfrm>
          <a:prstGeom prst="rect">
            <a:avLst/>
          </a:prstGeom>
          <a:solidFill>
            <a:srgbClr val="BBF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2652712"/>
            <a:ext cx="38100" cy="169545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72175" y="2652712"/>
            <a:ext cx="9525" cy="1695450"/>
          </a:xfrm>
          <a:prstGeom prst="rect">
            <a:avLst/>
          </a:prstGeom>
          <a:solidFill>
            <a:srgbClr val="BBF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0300" y="4338637"/>
            <a:ext cx="5219700" cy="9525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0300" y="2652712"/>
            <a:ext cx="5219700" cy="9525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0300" y="2652712"/>
            <a:ext cx="38100" cy="1695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20475" y="2652712"/>
            <a:ext cx="9525" cy="169545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976562"/>
            <a:ext cx="266700" cy="2667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2976562"/>
            <a:ext cx="333375" cy="2667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62000" y="533400"/>
            <a:ext cx="10763250" cy="638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6A34A"/>
                </a:solidFill>
                <a:latin typeface="Plus Jakarta Sans"/>
              </a:rPr>
              <a:t>Strategic 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790575"/>
            <a:ext cx="11430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UN SDG Alignment &amp; Lean Canvas Summary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0125" y="5991225"/>
            <a:ext cx="801290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Plus Jakarta Sans"/>
              </a:rPr>
              <a:t>Tech Stack: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Python, Streamlit, pandas, scikit-learn Random Forest, Plotly, Groq API, pytest, and GitHub.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8275" y="5995987"/>
            <a:ext cx="2667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JetBrains Mono"/>
              </a:rPr>
              <a:t>Status: Completed &amp; Verified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6800" y="3376612"/>
            <a:ext cx="608826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SDG 9: Industry &amp; Innovation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6800" y="3671887"/>
            <a:ext cx="47339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334155"/>
                </a:solidFill>
                <a:latin typeface="Plus Jakarta Sans"/>
              </a:rPr>
              <a:t>Fosters resilient digital infrastructure and open-source cybersecurity tooling for academic research and small IT teams.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5100" y="3376612"/>
            <a:ext cx="56769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Local-First Architecture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5100" y="3671887"/>
            <a:ext cx="47339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334155"/>
                </a:solidFill>
                <a:latin typeface="Plus Jakarta Sans"/>
              </a:rPr>
              <a:t>Combines offline CSV telemetry analysis, transparent evaluation metrics, and exportable reports in one dashboard.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05325" y="2014537"/>
            <a:ext cx="3181350" cy="295275"/>
          </a:xfrm>
          <a:prstGeom prst="roundRect">
            <a:avLst>
              <a:gd name="adj" fmla="val 19354"/>
            </a:avLst>
          </a:prstGeom>
          <a:solidFill>
            <a:srgbClr val="162642"/>
          </a:solidFill>
          <a:ln w="9525">
            <a:solidFill>
              <a:srgbClr val="1D47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024187" y="4052887"/>
            <a:ext cx="6143625" cy="790575"/>
          </a:xfrm>
          <a:prstGeom prst="roundRect">
            <a:avLst>
              <a:gd name="adj" fmla="val 14457"/>
            </a:avLst>
          </a:prstGeom>
          <a:solidFill>
            <a:srgbClr val="1E2138"/>
          </a:solidFill>
          <a:ln w="9525">
            <a:solidFill>
              <a:srgbClr val="2A2C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60056" y="2071687"/>
            <a:ext cx="3671887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38BDF8"/>
                </a:solidFill>
                <a:latin typeface="JetBrains Mono"/>
              </a:rPr>
              <a:t>FINAL DELIVERABLE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39330" y="2538412"/>
            <a:ext cx="6713339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FFFFF"/>
                </a:solidFill>
                <a:latin typeface="Plus Jakarta Sans"/>
              </a:rPr>
              <a:t>Thank You &amp;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8812" y="3271837"/>
            <a:ext cx="8334375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Plus Jakarta Sans"/>
              </a:rPr>
              <a:t>INIDA-ML is fully documented, tested, and ready for deployment on Streamlit Community Cloud.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49203" y="4252912"/>
            <a:ext cx="18930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94A3B8"/>
                </a:solidFill>
                <a:latin typeface="Plus Jakarta Sans"/>
              </a:rPr>
              <a:t>Presenter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49203" y="4443412"/>
            <a:ext cx="18930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8FAFC"/>
                </a:solidFill>
                <a:latin typeface="Plus Jakarta Sans"/>
              </a:rPr>
              <a:t>Pappu Ramesh Baraf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956" y="4252912"/>
            <a:ext cx="25003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94A3B8"/>
                </a:solidFill>
                <a:latin typeface="Plus Jakarta Sans"/>
              </a:rPr>
              <a:t>Institution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956" y="4443412"/>
            <a:ext cx="25003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8FAFC"/>
                </a:solidFill>
                <a:latin typeface="Plus Jakarta Sans"/>
              </a:rPr>
              <a:t>Finolex Academy, Ratnagiri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60456" y="4252912"/>
            <a:ext cx="15478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94A3B8"/>
                </a:solidFill>
                <a:latin typeface="Plus Jakarta Sans"/>
              </a:rPr>
              <a:t>Internship 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60456" y="4443412"/>
            <a:ext cx="15478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8BDF8"/>
                </a:solidFill>
                <a:latin typeface="JetBrains Mono"/>
              </a:rPr>
              <a:t>IBMUEML008058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